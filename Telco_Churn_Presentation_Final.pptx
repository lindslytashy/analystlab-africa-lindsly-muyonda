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72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555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6400800" cy="6400800"/>
          </a:xfrm>
          <a:prstGeom prst="ellipse">
            <a:avLst/>
          </a:prstGeom>
          <a:solidFill>
            <a:srgbClr val="FF3B8D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8540" y="3931920"/>
            <a:ext cx="5120640" cy="5120640"/>
          </a:xfrm>
          <a:prstGeom prst="ellipse">
            <a:avLst/>
          </a:prstGeom>
          <a:solidFill>
            <a:srgbClr val="FF3B8D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874520"/>
            <a:ext cx="548640" cy="82296"/>
          </a:xfrm>
          <a:prstGeom prst="rect">
            <a:avLst/>
          </a:prstGeom>
          <a:solidFill>
            <a:srgbClr val="FF3B8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3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CASE STUDY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&amp; Reducing</a:t>
            </a:r>
            <a:endParaRPr lang="en-US" sz="44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look at why telecom customers leave — and what to do about it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57607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Dataset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Data Analytics Internship — Week 5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6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Lindsly Muyonda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3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are customers leaving —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who is most at risk?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1064240" cy="18288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beats acquisition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latin typeface="Arial Nova Cond" panose="020B0506020202020204" pitchFamily="34" charset="0"/>
                <a:ea typeface="Calibri" pitchFamily="34" charset="-122"/>
                <a:cs typeface="Calibri" pitchFamily="34" charset="-120"/>
              </a:rPr>
              <a:t>Keeping an existing customer is far cheaper than winning a new one, so even small drops in churn move the bottom line significantly.</a:t>
            </a:r>
            <a:endParaRPr lang="en-US" sz="1300" dirty="0">
              <a:latin typeface="Arial Nova Cond" panose="020B0506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43400" y="2697480"/>
            <a:ext cx="502920" cy="50292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43400" y="33375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isn't random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343400" y="388620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latin typeface="Arial Nova Cond" panose="020B0506020202020204" pitchFamily="34" charset="0"/>
                <a:ea typeface="Calibri" pitchFamily="34" charset="-122"/>
                <a:cs typeface="Calibri" pitchFamily="34" charset="-120"/>
              </a:rPr>
              <a:t>It clusters around specific contract types, service tiers and payment habits which means it's predictable and preventable.</a:t>
            </a:r>
            <a:endParaRPr lang="en-US" sz="1300" dirty="0">
              <a:latin typeface="Arial Nova Cond" panose="020B0506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38160" y="2697480"/>
            <a:ext cx="502920" cy="502920"/>
          </a:xfrm>
          <a:prstGeom prst="ellipse">
            <a:avLst/>
          </a:prstGeom>
          <a:solidFill>
            <a:srgbClr val="FF3B8D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138160" y="33375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38160" y="388620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latin typeface="Arial Nova Cond" panose="020B0506020202020204" pitchFamily="34" charset="0"/>
                <a:ea typeface="Calibri" pitchFamily="34" charset="-122"/>
                <a:cs typeface="Calibri" pitchFamily="34" charset="-120"/>
              </a:rPr>
              <a:t>Identify the strongest drivers of churn and turn them into a prioritized, actionable retention plan for the business.</a:t>
            </a:r>
            <a:endParaRPr lang="en-US" sz="1300" dirty="0">
              <a:latin typeface="Arial Nova Cond" panose="020B0506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· Week 5 Case Study · Lindsly Muyonda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0B610813-E00A-2FB9-E94D-C81910898E50}"/>
              </a:ext>
            </a:extLst>
          </p:cNvPr>
          <p:cNvSpPr/>
          <p:nvPr/>
        </p:nvSpPr>
        <p:spPr>
          <a:xfrm>
            <a:off x="-2169160" y="-2537460"/>
            <a:ext cx="5486400" cy="5486400"/>
          </a:xfrm>
          <a:prstGeom prst="ellipse">
            <a:avLst/>
          </a:prstGeom>
          <a:solidFill>
            <a:srgbClr val="FF3B8D">
              <a:alpha val="15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3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 customers, 21 attributes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35240" y="1463040"/>
            <a:ext cx="4023360" cy="429768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5" name="Image 0" descr="/home/claude/work/nb_charts/chart_4_pi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0" y="1600200"/>
            <a:ext cx="3749040" cy="4023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6766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691640"/>
            <a:ext cx="73152" cy="777240"/>
          </a:xfrm>
          <a:prstGeom prst="rect">
            <a:avLst/>
          </a:prstGeom>
          <a:solidFill>
            <a:srgbClr val="FF3B8D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69164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2423160" y="16916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51760"/>
            <a:ext cx="6766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2651760"/>
            <a:ext cx="73152" cy="777240"/>
          </a:xfrm>
          <a:prstGeom prst="rect">
            <a:avLst/>
          </a:prstGeom>
          <a:solidFill>
            <a:srgbClr val="FF3B8D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265176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423160" y="26517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per customer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611880"/>
            <a:ext cx="6766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3611880"/>
            <a:ext cx="73152" cy="777240"/>
          </a:xfrm>
          <a:prstGeom prst="rect">
            <a:avLst/>
          </a:prstGeom>
          <a:solidFill>
            <a:srgbClr val="FF3B8D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361188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2423160" y="36118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572000"/>
            <a:ext cx="6766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" y="4572000"/>
            <a:ext cx="73152" cy="777240"/>
          </a:xfrm>
          <a:prstGeom prst="rect">
            <a:avLst/>
          </a:prstGeom>
          <a:solidFill>
            <a:srgbClr val="FF3B8D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457200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2423160" y="45720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 missing charges (removed)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· Week 5 Case Study · Lindsly Muyonda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Shape 0">
            <a:extLst>
              <a:ext uri="{FF2B5EF4-FFF2-40B4-BE49-F238E27FC236}">
                <a16:creationId xmlns:a16="http://schemas.microsoft.com/office/drawing/2014/main" id="{52792330-8859-AC0E-FFCC-78629EAFCB1D}"/>
              </a:ext>
            </a:extLst>
          </p:cNvPr>
          <p:cNvSpPr/>
          <p:nvPr/>
        </p:nvSpPr>
        <p:spPr>
          <a:xfrm>
            <a:off x="-2169160" y="-2537460"/>
            <a:ext cx="5486400" cy="5486400"/>
          </a:xfrm>
          <a:prstGeom prst="ellipse">
            <a:avLst/>
          </a:prstGeom>
          <a:solidFill>
            <a:srgbClr val="FF3B8D">
              <a:alpha val="15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3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 NO.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type is the single strongest predictor of churn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645920"/>
            <a:ext cx="5669280" cy="406908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5" name="Image 0" descr="/home/claude/work/nb_charts/chart_5_contrac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783080"/>
            <a:ext cx="5394960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26480" y="1645920"/>
            <a:ext cx="5669280" cy="406908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7" name="Image 1" descr="/home/claude/work/nb_charts/chart_6_tenur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63640" y="1783080"/>
            <a:ext cx="5394960" cy="3794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9994" y="5897880"/>
            <a:ext cx="1078288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churn far more than one- or two-year contract holders. Risk is also concentrated early: churn is highest in a customer's first 12 months, and drops sharply as tenure increases</a:t>
            </a: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· Week 5 Case Study · Lindsly Muyonda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070D7065-A3CF-AFF1-38BE-55A4C43000B8}"/>
              </a:ext>
            </a:extLst>
          </p:cNvPr>
          <p:cNvSpPr/>
          <p:nvPr/>
        </p:nvSpPr>
        <p:spPr>
          <a:xfrm>
            <a:off x="-2169160" y="-2537460"/>
            <a:ext cx="5486400" cy="5486400"/>
          </a:xfrm>
          <a:prstGeom prst="ellipse">
            <a:avLst/>
          </a:prstGeom>
          <a:solidFill>
            <a:srgbClr val="FF3B8D">
              <a:alpha val="15000"/>
            </a:srgbClr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3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 NO.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Fiber optic customers churn most —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pay the most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645920"/>
            <a:ext cx="5669280" cy="406908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5" name="Image 0" descr="/home/claude/work/nb_charts/chart_7_interne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783080"/>
            <a:ext cx="5394960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26480" y="1645920"/>
            <a:ext cx="5669280" cy="406908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7" name="Image 1" descr="/home/claude/work/nb_charts/chart_8_monthly_charge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63640" y="1783080"/>
            <a:ext cx="5394960" cy="3794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8978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customers churn at more than double the DSL rate. The monthly charges distribution shows churned customers cluster at higher price points than retained customers — a pricing/value gap worth investigating.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· Week 5 Case Study · Lindsly Muyonda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0EFA72D2-24F5-CC5B-F02C-D5B7C46F3F5B}"/>
              </a:ext>
            </a:extLst>
          </p:cNvPr>
          <p:cNvSpPr/>
          <p:nvPr/>
        </p:nvSpPr>
        <p:spPr>
          <a:xfrm>
            <a:off x="-2021840" y="-3291840"/>
            <a:ext cx="5486400" cy="5486400"/>
          </a:xfrm>
          <a:prstGeom prst="ellipse">
            <a:avLst/>
          </a:prstGeom>
          <a:solidFill>
            <a:srgbClr val="FF3B8D">
              <a:alpha val="15000"/>
            </a:srgbClr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3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 NO.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payments and short tenure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signal high churn risk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645920"/>
            <a:ext cx="5669280" cy="406908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5" name="Image 0" descr="/home/claude/work/nb_charts/chart_11_paym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783080"/>
            <a:ext cx="5394960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26480" y="1645920"/>
            <a:ext cx="5669280" cy="406908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7" name="Image 1" descr="/home/claude/work/nb_charts/chart_9_boxplo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63640" y="1783080"/>
            <a:ext cx="5394960" cy="3794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8978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payers churn at nearly 3x the rate of customers on automatic payment methods. Churned customers also show a much shorter tenure distribution than retained customers.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· Week 5 Case Study · Lindsly Muyonda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BD5308D3-8E52-61AF-B15C-F5E5FD697FA1}"/>
              </a:ext>
            </a:extLst>
          </p:cNvPr>
          <p:cNvSpPr/>
          <p:nvPr/>
        </p:nvSpPr>
        <p:spPr>
          <a:xfrm>
            <a:off x="-2331720" y="-3154680"/>
            <a:ext cx="5486400" cy="5486400"/>
          </a:xfrm>
          <a:prstGeom prst="ellipse">
            <a:avLst/>
          </a:prstGeom>
          <a:solidFill>
            <a:srgbClr val="FF3B8D">
              <a:alpha val="15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3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THE PATTERN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correlation heatmap confirms the same drivers dominate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514600" y="1554480"/>
            <a:ext cx="7132320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5" name="Image 0" descr="/home/claude/work/nb_charts/chart_10_heat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51760" y="1691640"/>
            <a:ext cx="6858000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· Week 5 Case Study · Lindsly Muyonda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68F7026E-F8AF-FFED-57B7-3E5BB14EA373}"/>
              </a:ext>
            </a:extLst>
          </p:cNvPr>
          <p:cNvSpPr/>
          <p:nvPr/>
        </p:nvSpPr>
        <p:spPr>
          <a:xfrm>
            <a:off x="-2169160" y="-2537460"/>
            <a:ext cx="5486400" cy="5486400"/>
          </a:xfrm>
          <a:prstGeom prst="ellipse">
            <a:avLst/>
          </a:prstGeom>
          <a:solidFill>
            <a:srgbClr val="FF3B8D">
              <a:alpha val="15000"/>
            </a:srgbClr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3200400"/>
            <a:ext cx="5486400" cy="5486400"/>
          </a:xfrm>
          <a:prstGeom prst="ellipse">
            <a:avLst/>
          </a:prstGeom>
          <a:solidFill>
            <a:srgbClr val="FF3B8D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3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SEGMENT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the risk factors and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more than doubles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contract  +  Fiber optic internet  +  Electronic check payment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97280" y="2834640"/>
            <a:ext cx="3291840" cy="3291840"/>
          </a:xfrm>
          <a:prstGeom prst="ellipse">
            <a:avLst/>
          </a:prstGeom>
          <a:solidFill>
            <a:srgbClr val="FF3B8D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60.4%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1097280" y="43434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segment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20640" y="28803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3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1,307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269480" y="28803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fit this profile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120640" y="40233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3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2.3x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269480" y="40233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average churn rate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120640" y="51663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3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$1.67M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269480" y="51663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annualized revenue at risk, company-wide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· Week 5 Case Study · Lindsly Muyonda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7" name="Shape 0">
            <a:extLst>
              <a:ext uri="{FF2B5EF4-FFF2-40B4-BE49-F238E27FC236}">
                <a16:creationId xmlns:a16="http://schemas.microsoft.com/office/drawing/2014/main" id="{284F4E96-A526-5930-D4AF-B3149DFE1F69}"/>
              </a:ext>
            </a:extLst>
          </p:cNvPr>
          <p:cNvSpPr/>
          <p:nvPr/>
        </p:nvSpPr>
        <p:spPr>
          <a:xfrm>
            <a:off x="-2169160" y="-2537460"/>
            <a:ext cx="5486400" cy="5486400"/>
          </a:xfrm>
          <a:prstGeom prst="ellipse">
            <a:avLst/>
          </a:prstGeom>
          <a:solidFill>
            <a:srgbClr val="FF3B8D">
              <a:alpha val="15000"/>
            </a:srgbClr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3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tells 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0040" cy="320040"/>
          </a:xfrm>
          <a:prstGeom prst="ellipse">
            <a:avLst/>
          </a:prstGeom>
          <a:solidFill>
            <a:srgbClr val="FF3B8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7830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a first-year problem — nearly half of churn happens within a customer's first 12 months.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670048"/>
            <a:ext cx="320040" cy="320040"/>
          </a:xfrm>
          <a:prstGeom prst="ellipse">
            <a:avLst/>
          </a:prstGeom>
          <a:solidFill>
            <a:srgbClr val="FF3B8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700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62432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service isn't translating to loyalty — fiber optic customers pay the most, yet churn the most.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511296"/>
            <a:ext cx="320040" cy="320040"/>
          </a:xfrm>
          <a:prstGeom prst="ellipse">
            <a:avLst/>
          </a:prstGeom>
          <a:solidFill>
            <a:srgbClr val="FF3B8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112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3465576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friction signals disengagement — manual electronic-check payers churn far more than autopay customers.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352544"/>
            <a:ext cx="320040" cy="320040"/>
          </a:xfrm>
          <a:prstGeom prst="ellipse">
            <a:avLst/>
          </a:prstGeom>
          <a:solidFill>
            <a:srgbClr val="FF3B8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3525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4306824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services act as retention tools — Tech Support and Online Security correlate strongly with staying.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5193792"/>
            <a:ext cx="320040" cy="320040"/>
          </a:xfrm>
          <a:prstGeom prst="ellipse">
            <a:avLst/>
          </a:prstGeom>
          <a:solidFill>
            <a:srgbClr val="FF3B8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1937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5148072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compounds when factors overlap — the highest-risk segment churns at more than double the company average.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· Week 5 Case Study · Lindsly Muyonda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99BA0F2C-E39A-BE0C-775E-D42D5408C301}"/>
              </a:ext>
            </a:extLst>
          </p:cNvPr>
          <p:cNvSpPr/>
          <p:nvPr/>
        </p:nvSpPr>
        <p:spPr>
          <a:xfrm>
            <a:off x="-2169160" y="-2537460"/>
            <a:ext cx="5486400" cy="5486400"/>
          </a:xfrm>
          <a:prstGeom prst="ellipse">
            <a:avLst/>
          </a:prstGeom>
          <a:solidFill>
            <a:srgbClr val="FF3B8D">
              <a:alpha val="15000"/>
            </a:srgbClr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3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actions to reduce churn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7F5F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Incentivize contract upgrades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month-to-month customers a discount to move to 1- or 2-year plans.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7F5F6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2011680"/>
            <a:ext cx="457200" cy="45720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6060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a first-year retention program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3063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check-ins and milestone offers at month 6 and 12.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7F5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2011680"/>
            <a:ext cx="457200" cy="45720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6760" y="26060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 the fiber optic experience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66760" y="3063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reliability, pricing and service quality for this segment.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7F5F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7091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Migrate electronic check users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5166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Incentivize switching to automatic bank/card payment.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38862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7F5F6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4114800"/>
            <a:ext cx="457200" cy="45720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0" y="47091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Bundle protective add-ons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0" y="5166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Tech Support + Online Security as a default package.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38862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7F5F6"/>
          </a:solidFill>
          <a:ln/>
        </p:spPr>
      </p:sp>
      <p:sp>
        <p:nvSpPr>
          <p:cNvPr id="30" name="Shape 28"/>
          <p:cNvSpPr/>
          <p:nvPr/>
        </p:nvSpPr>
        <p:spPr>
          <a:xfrm>
            <a:off x="8366760" y="4114800"/>
            <a:ext cx="457200" cy="45720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66760" y="47091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churn risk score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66760" y="5166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key drivers to flag high-risk accounts for outreach.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· Week 5 Case Study · Lindsly Muyonda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6" name="Shape 0">
            <a:extLst>
              <a:ext uri="{FF2B5EF4-FFF2-40B4-BE49-F238E27FC236}">
                <a16:creationId xmlns:a16="http://schemas.microsoft.com/office/drawing/2014/main" id="{7CEEA2A2-A6E8-752F-7ADE-D131C2424F2F}"/>
              </a:ext>
            </a:extLst>
          </p:cNvPr>
          <p:cNvSpPr/>
          <p:nvPr/>
        </p:nvSpPr>
        <p:spPr>
          <a:xfrm>
            <a:off x="-2169160" y="-2537460"/>
            <a:ext cx="5486400" cy="5486400"/>
          </a:xfrm>
          <a:prstGeom prst="ellipse">
            <a:avLst/>
          </a:prstGeom>
          <a:solidFill>
            <a:srgbClr val="FF3B8D">
              <a:alpha val="15000"/>
            </a:srgbClr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69160" y="-2537460"/>
            <a:ext cx="5486400" cy="5486400"/>
          </a:xfrm>
          <a:prstGeom prst="ellipse">
            <a:avLst/>
          </a:prstGeom>
          <a:solidFill>
            <a:srgbClr val="FF3B8D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3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is concentrated,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Measurable and fixable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highest-risk customers share a clear profile: new, month-to-month, fiber optic subscribers paying by electronic check with no protective add-ons. Because the drivers are concentrated and identifiable, targeted ,not blanket , interventions can meaningfully cut revenue loss.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297680"/>
            <a:ext cx="10515600" cy="18288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6634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3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5303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churned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0" y="46634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3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$139K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06240" y="5303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lost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63840" y="46634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3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$1.67M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863840" y="5303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revenue at risk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035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· Week 5 Case Study · Lindsly Muyonda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752</Words>
  <Application>Microsoft Office PowerPoint</Application>
  <PresentationFormat>Widescreen</PresentationFormat>
  <Paragraphs>129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Nova Cond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Telco Customer Churn — Business Analytics Case Study</dc:title>
  <dc:subject>PptxGenJS Presentation</dc:subject>
  <dc:creator>Lindsly Muyonda</dc:creator>
  <cp:lastModifiedBy>Lindsly Muyonda</cp:lastModifiedBy>
  <cp:revision>5</cp:revision>
  <dcterms:created xsi:type="dcterms:W3CDTF">2026-07-05T14:16:54Z</dcterms:created>
  <dcterms:modified xsi:type="dcterms:W3CDTF">2026-07-05T14:56:46Z</dcterms:modified>
</cp:coreProperties>
</file>